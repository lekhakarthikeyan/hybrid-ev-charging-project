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1pPr>
    <a:lvl2pPr marL="0" marR="0" indent="37401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2pPr>
    <a:lvl3pPr marL="0" marR="0" indent="74803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3pPr>
    <a:lvl4pPr marL="0" marR="0" indent="1122044"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4pPr>
    <a:lvl5pPr marL="0" marR="0" indent="149606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5pPr>
    <a:lvl6pPr marL="0" marR="0" indent="187007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6pPr>
    <a:lvl7pPr marL="0" marR="0" indent="2244725"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7pPr>
    <a:lvl8pPr marL="0" marR="0" indent="2618739"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8pPr>
    <a:lvl9pPr marL="0" marR="0" indent="2992754"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79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 name="Shape 31"/>
          <p:cNvSpPr>
            <a:spLocks noGrp="1" noRot="1" noChangeAspect="1"/>
          </p:cNvSpPr>
          <p:nvPr>
            <p:ph type="sldImg"/>
          </p:nvPr>
        </p:nvSpPr>
        <p:spPr>
          <a:xfrm>
            <a:off x="1143000" y="685800"/>
            <a:ext cx="4572000" cy="3429000"/>
          </a:xfrm>
          <a:prstGeom prst="rect">
            <a:avLst/>
          </a:prstGeom>
        </p:spPr>
        <p:txBody>
          <a:bodyPr/>
          <a:lstStyle/>
          <a:p>
            <a:endParaRPr/>
          </a:p>
        </p:txBody>
      </p:sp>
      <p:sp>
        <p:nvSpPr>
          <p:cNvPr id="32" name="Shape 3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7"/>
          <p:cNvSpPr/>
          <p:nvPr/>
        </p:nvSpPr>
        <p:spPr>
          <a:xfrm>
            <a:off x="-1" y="4572000"/>
            <a:ext cx="6583682" cy="28346400"/>
          </a:xfrm>
          <a:prstGeom prst="rect">
            <a:avLst/>
          </a:prstGeom>
          <a:solidFill>
            <a:srgbClr val="376092"/>
          </a:solidFill>
          <a:ln w="12700">
            <a:miter lim="400000"/>
          </a:ln>
        </p:spPr>
        <p:txBody>
          <a:bodyPr lIns="45719" rIns="45719"/>
          <a:lstStyle/>
          <a:p>
            <a:pPr algn="ctr" defTabSz="3291204">
              <a:defRPr sz="3600"/>
            </a:pPr>
            <a:endParaRPr/>
          </a:p>
        </p:txBody>
      </p:sp>
      <p:sp>
        <p:nvSpPr>
          <p:cNvPr id="3" name="Rectangle 8"/>
          <p:cNvSpPr/>
          <p:nvPr/>
        </p:nvSpPr>
        <p:spPr>
          <a:xfrm>
            <a:off x="6583680" y="1"/>
            <a:ext cx="26334722" cy="4572001"/>
          </a:xfrm>
          <a:prstGeom prst="rect">
            <a:avLst/>
          </a:prstGeom>
          <a:solidFill>
            <a:srgbClr val="376092"/>
          </a:solidFill>
          <a:ln w="12700">
            <a:miter lim="400000"/>
          </a:ln>
        </p:spPr>
        <p:txBody>
          <a:bodyPr lIns="45719" rIns="45719"/>
          <a:lstStyle/>
          <a:p>
            <a:endParaRPr/>
          </a:p>
        </p:txBody>
      </p:sp>
      <p:sp>
        <p:nvSpPr>
          <p:cNvPr id="4" name="Rectangle 9"/>
          <p:cNvSpPr/>
          <p:nvPr/>
        </p:nvSpPr>
        <p:spPr>
          <a:xfrm>
            <a:off x="6583680" y="4572000"/>
            <a:ext cx="26334722" cy="28346400"/>
          </a:xfrm>
          <a:prstGeom prst="rect">
            <a:avLst/>
          </a:prstGeom>
          <a:solidFill>
            <a:srgbClr val="EEECE1"/>
          </a:solidFill>
          <a:ln w="12700">
            <a:miter lim="400000"/>
          </a:ln>
        </p:spPr>
        <p:txBody>
          <a:bodyPr lIns="45719" rIns="45719"/>
          <a:lstStyle/>
          <a:p>
            <a:endParaRPr/>
          </a:p>
        </p:txBody>
      </p:sp>
      <p:sp>
        <p:nvSpPr>
          <p:cNvPr id="5" name="Line 11"/>
          <p:cNvSpPr/>
          <p:nvPr/>
        </p:nvSpPr>
        <p:spPr>
          <a:xfrm flipH="1">
            <a:off x="6583680" y="0"/>
            <a:ext cx="1" cy="32918401"/>
          </a:xfrm>
          <a:prstGeom prst="line">
            <a:avLst/>
          </a:prstGeom>
          <a:ln w="76200">
            <a:solidFill>
              <a:srgbClr val="000000"/>
            </a:solidFill>
          </a:ln>
        </p:spPr>
        <p:txBody>
          <a:bodyPr lIns="45719" rIns="45719"/>
          <a:lstStyle/>
          <a:p>
            <a:endParaRPr/>
          </a:p>
        </p:txBody>
      </p:sp>
      <p:sp>
        <p:nvSpPr>
          <p:cNvPr id="6" name="Line 12"/>
          <p:cNvSpPr/>
          <p:nvPr/>
        </p:nvSpPr>
        <p:spPr>
          <a:xfrm>
            <a:off x="0" y="4572000"/>
            <a:ext cx="32918401" cy="0"/>
          </a:xfrm>
          <a:prstGeom prst="line">
            <a:avLst/>
          </a:prstGeom>
          <a:ln w="76200">
            <a:solidFill>
              <a:srgbClr val="000000"/>
            </a:solidFill>
          </a:ln>
        </p:spPr>
        <p:txBody>
          <a:bodyPr lIns="45719" rIns="45719"/>
          <a:lstStyle/>
          <a:p>
            <a:endParaRPr/>
          </a:p>
        </p:txBody>
      </p:sp>
      <p:pic>
        <p:nvPicPr>
          <p:cNvPr id="7" name="Picture 1" descr="Picture 1"/>
          <p:cNvPicPr>
            <a:picLocks noChangeAspect="1"/>
          </p:cNvPicPr>
          <p:nvPr/>
        </p:nvPicPr>
        <p:blipFill>
          <a:blip r:embed="rId3"/>
          <a:stretch>
            <a:fillRect/>
          </a:stretch>
        </p:blipFill>
        <p:spPr>
          <a:xfrm>
            <a:off x="27432000" y="32613600"/>
            <a:ext cx="5297436" cy="185929"/>
          </a:xfrm>
          <a:prstGeom prst="rect">
            <a:avLst/>
          </a:prstGeom>
          <a:ln w="12700">
            <a:miter lim="400000"/>
          </a:ln>
        </p:spPr>
      </p:pic>
      <p:grpSp>
        <p:nvGrpSpPr>
          <p:cNvPr id="10" name="Instructions"/>
          <p:cNvGrpSpPr/>
          <p:nvPr/>
        </p:nvGrpSpPr>
        <p:grpSpPr>
          <a:xfrm>
            <a:off x="-10287000" y="0"/>
            <a:ext cx="9601200" cy="33769936"/>
            <a:chOff x="0" y="0"/>
            <a:chExt cx="9601200" cy="33769936"/>
          </a:xfrm>
        </p:grpSpPr>
        <p:sp>
          <p:nvSpPr>
            <p:cNvPr id="8"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09">
                <a:spcBef>
                  <a:spcPts val="1800"/>
                </a:spcBef>
                <a:defRPr sz="7200">
                  <a:solidFill>
                    <a:srgbClr val="FFFFFF"/>
                  </a:solidFill>
                </a:defRPr>
              </a:pPr>
              <a:endParaRPr/>
            </a:p>
          </p:txBody>
        </p:sp>
        <p:sp>
          <p:nvSpPr>
            <p:cNvPr id="9" name="Poster Print Size:…"/>
            <p:cNvSpPr txBox="1"/>
            <p:nvPr/>
          </p:nvSpPr>
          <p:spPr>
            <a:xfrm>
              <a:off x="0" y="0"/>
              <a:ext cx="9601200" cy="3376993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71421" tIns="171421" rIns="171421" bIns="171421" numCol="1" anchor="t">
              <a:spAutoFit/>
            </a:bodyPr>
            <a:lstStyle/>
            <a:p>
              <a:pPr defTabSz="3686809">
                <a:spcBef>
                  <a:spcPts val="1800"/>
                </a:spcBef>
                <a:defRPr sz="7200">
                  <a:solidFill>
                    <a:srgbClr val="7F7F7F"/>
                  </a:solidFill>
                </a:defRPr>
              </a:pPr>
              <a:r>
                <a:t>Poster Print Size:</a:t>
              </a:r>
            </a:p>
            <a:p>
              <a:pPr defTabSz="3686809">
                <a:spcBef>
                  <a:spcPts val="1800"/>
                </a:spcBef>
                <a:defRPr sz="4900">
                  <a:solidFill>
                    <a:srgbClr val="7F7F7F"/>
                  </a:solidFill>
                </a:defRPr>
              </a:pPr>
              <a:r>
                <a:t>This poster template is 36” high by 36” wide. It can be used to print any poster with a 1:1 aspect ratio.</a:t>
              </a:r>
              <a:endParaRPr sz="7200">
                <a:solidFill>
                  <a:srgbClr val="FFFFFF"/>
                </a:solidFill>
              </a:endParaRPr>
            </a:p>
            <a:p>
              <a:pPr defTabSz="3686809">
                <a:spcBef>
                  <a:spcPts val="1800"/>
                </a:spcBef>
                <a:defRPr sz="7200">
                  <a:solidFill>
                    <a:srgbClr val="7F7F7F"/>
                  </a:solidFill>
                </a:defRPr>
              </a:pPr>
              <a:r>
                <a:t>Placeholders:</a:t>
              </a:r>
              <a:endParaRPr>
                <a:solidFill>
                  <a:srgbClr val="FFFFFF"/>
                </a:solidFill>
              </a:endParaRPr>
            </a:p>
            <a:p>
              <a:pPr defTabSz="3686809">
                <a:spcBef>
                  <a:spcPts val="1800"/>
                </a:spcBef>
                <a:defRPr sz="4900">
                  <a:solidFill>
                    <a:srgbClr val="7F7F7F"/>
                  </a:solidFill>
                </a:defRPr>
              </a:pPr>
              <a: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7200">
                <a:solidFill>
                  <a:srgbClr val="FFFFFF"/>
                </a:solidFill>
              </a:endParaRPr>
            </a:p>
            <a:p>
              <a:pPr defTabSz="3686809">
                <a:spcBef>
                  <a:spcPts val="1800"/>
                </a:spcBef>
                <a:defRPr sz="7200">
                  <a:solidFill>
                    <a:srgbClr val="7F7F7F"/>
                  </a:solidFill>
                </a:defRPr>
              </a:pPr>
              <a:r>
                <a:t>Image Quality:</a:t>
              </a:r>
              <a:endParaRPr>
                <a:solidFill>
                  <a:srgbClr val="FFFFFF"/>
                </a:solidFill>
              </a:endParaRPr>
            </a:p>
            <a:p>
              <a:pPr defTabSz="3686809">
                <a:spcBef>
                  <a:spcPts val="1800"/>
                </a:spcBef>
                <a:defRPr sz="4900">
                  <a:solidFill>
                    <a:srgbClr val="7F7F7F"/>
                  </a:solidFill>
                </a:defRPr>
              </a:pPr>
              <a:r>
                <a:t>You can place digital photos or logo art in your poster file by selecting the </a:t>
              </a:r>
              <a:r>
                <a:rPr b="1"/>
                <a:t>Insert, Picture</a:t>
              </a:r>
              <a:r>
                <a:t> command, or by using standard copy &amp; paste. For best results, all graphic elements should be at least </a:t>
              </a:r>
              <a:r>
                <a:rPr b="1"/>
                <a:t>150-200 pixels per inch in their final printed size</a:t>
              </a:r>
              <a:r>
                <a:t>. For instance, a 1600 x 1200 pixel photo will usually look fine up to 8“-10” wide on your printed poster.</a:t>
              </a:r>
              <a:endParaRPr sz="7200">
                <a:solidFill>
                  <a:srgbClr val="FFFFFF"/>
                </a:solidFill>
              </a:endParaRPr>
            </a:p>
            <a:p>
              <a:pPr defTabSz="3686809">
                <a:spcBef>
                  <a:spcPts val="1800"/>
                </a:spcBef>
                <a:defRPr sz="4900">
                  <a:solidFill>
                    <a:srgbClr val="7F7F7F"/>
                  </a:solidFill>
                </a:defRPr>
              </a:pPr>
              <a: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7200">
                <a:solidFill>
                  <a:srgbClr val="FFFFFF"/>
                </a:solidFill>
              </a:endParaRPr>
            </a:p>
            <a:p>
              <a:pPr defTabSz="3686809">
                <a:spcBef>
                  <a:spcPts val="1800"/>
                </a:spcBef>
                <a:defRPr sz="4900">
                  <a:solidFill>
                    <a:srgbClr val="7F7F7F"/>
                  </a:solidFill>
                </a:defRPr>
              </a:pPr>
              <a:r>
                <a:t>Please note that graphics from websites (such as the logo on your hospital's or university's home page) will only be 72dpi and not suitable for printing.</a:t>
              </a:r>
              <a:endParaRPr sz="7200">
                <a:solidFill>
                  <a:srgbClr val="FFFFFF"/>
                </a:solidFill>
              </a:endParaRPr>
            </a:p>
            <a:p>
              <a:pPr algn="ctr" defTabSz="3686809">
                <a:spcBef>
                  <a:spcPts val="1800"/>
                </a:spcBef>
                <a:defRPr sz="3600">
                  <a:solidFill>
                    <a:srgbClr val="7F7F7F"/>
                  </a:solidFill>
                </a:defRPr>
              </a:pPr>
              <a:br>
                <a:rPr sz="7200">
                  <a:solidFill>
                    <a:srgbClr val="FFFFFF"/>
                  </a:solidFill>
                </a:rPr>
              </a:br>
              <a:r>
                <a:t>[This sidebar area does not print.]</a:t>
              </a:r>
            </a:p>
          </p:txBody>
        </p:sp>
      </p:grpSp>
      <p:grpSp>
        <p:nvGrpSpPr>
          <p:cNvPr id="15" name="Group 6"/>
          <p:cNvGrpSpPr/>
          <p:nvPr/>
        </p:nvGrpSpPr>
        <p:grpSpPr>
          <a:xfrm>
            <a:off x="33604200" y="0"/>
            <a:ext cx="9601200" cy="33833495"/>
            <a:chOff x="0" y="0"/>
            <a:chExt cx="9601200" cy="33833494"/>
          </a:xfrm>
        </p:grpSpPr>
        <p:grpSp>
          <p:nvGrpSpPr>
            <p:cNvPr id="13" name="Instructions"/>
            <p:cNvGrpSpPr/>
            <p:nvPr/>
          </p:nvGrpSpPr>
          <p:grpSpPr>
            <a:xfrm>
              <a:off x="0" y="0"/>
              <a:ext cx="9601200" cy="33833495"/>
              <a:chOff x="0" y="0"/>
              <a:chExt cx="9601200" cy="33833494"/>
            </a:xfrm>
          </p:grpSpPr>
          <p:sp>
            <p:nvSpPr>
              <p:cNvPr id="11"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09">
                  <a:defRPr sz="7200">
                    <a:solidFill>
                      <a:srgbClr val="FFFFFF"/>
                    </a:solidFill>
                  </a:defRPr>
                </a:pPr>
                <a:endParaRPr/>
              </a:p>
            </p:txBody>
          </p:sp>
          <p:sp>
            <p:nvSpPr>
              <p:cNvPr id="12" name="Change Color Theme:…"/>
              <p:cNvSpPr txBox="1"/>
              <p:nvPr/>
            </p:nvSpPr>
            <p:spPr>
              <a:xfrm>
                <a:off x="0" y="0"/>
                <a:ext cx="9601200" cy="3383349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228600" tIns="228600" rIns="228600" bIns="228600" numCol="1" anchor="t">
                <a:spAutoFit/>
              </a:bodyPr>
              <a:lstStyle/>
              <a:p>
                <a:pPr defTabSz="3686809">
                  <a:spcBef>
                    <a:spcPts val="1800"/>
                  </a:spcBef>
                  <a:defRPr sz="7200">
                    <a:solidFill>
                      <a:srgbClr val="808080"/>
                    </a:solidFill>
                  </a:defRPr>
                </a:pPr>
                <a:r>
                  <a:t>Change Color Theme:</a:t>
                </a:r>
              </a:p>
              <a:p>
                <a:pPr defTabSz="3686809">
                  <a:spcBef>
                    <a:spcPts val="1800"/>
                  </a:spcBef>
                  <a:defRPr sz="4900">
                    <a:solidFill>
                      <a:srgbClr val="808080"/>
                    </a:solidFill>
                  </a:defRPr>
                </a:pPr>
                <a:r>
                  <a:t>This template is designed to use the built-in color themes in the newer versions of PowerPoint.</a:t>
                </a:r>
                <a:endParaRPr sz="7200">
                  <a:solidFill>
                    <a:srgbClr val="FFFFFF"/>
                  </a:solidFill>
                </a:endParaRPr>
              </a:p>
              <a:p>
                <a:pPr defTabSz="3686809">
                  <a:spcBef>
                    <a:spcPts val="1800"/>
                  </a:spcBef>
                  <a:defRPr sz="4900">
                    <a:solidFill>
                      <a:srgbClr val="808080"/>
                    </a:solidFill>
                  </a:defRPr>
                </a:pPr>
                <a:r>
                  <a:t>To change the color theme, select the </a:t>
                </a:r>
                <a:r>
                  <a:rPr b="1"/>
                  <a:t>Design</a:t>
                </a:r>
                <a:r>
                  <a:t> tab, then select the </a:t>
                </a:r>
                <a:r>
                  <a:rPr b="1"/>
                  <a:t>Colors</a:t>
                </a:r>
                <a:r>
                  <a:t> drop-down list.</a:t>
                </a: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endParaRPr sz="7200">
                  <a:solidFill>
                    <a:srgbClr val="FFFFFF"/>
                  </a:solidFill>
                </a:endParaRPr>
              </a:p>
              <a:p>
                <a:pPr defTabSz="3686809">
                  <a:spcBef>
                    <a:spcPts val="1800"/>
                  </a:spcBef>
                  <a:defRPr sz="4900">
                    <a:solidFill>
                      <a:srgbClr val="808080"/>
                    </a:solidFill>
                  </a:defRPr>
                </a:pPr>
                <a:r>
                  <a:t>The default color theme for this template is “Office”, so you can always return to that after trying some of the alternatives.</a:t>
                </a:r>
                <a:endParaRPr sz="7200">
                  <a:solidFill>
                    <a:srgbClr val="FFFFFF"/>
                  </a:solidFill>
                </a:endParaRPr>
              </a:p>
              <a:p>
                <a:pPr defTabSz="3686809">
                  <a:spcBef>
                    <a:spcPts val="1800"/>
                  </a:spcBef>
                  <a:defRPr sz="7200">
                    <a:solidFill>
                      <a:srgbClr val="808080"/>
                    </a:solidFill>
                  </a:defRPr>
                </a:pPr>
                <a:r>
                  <a:t>Printing Your Poster:</a:t>
                </a:r>
                <a:endParaRPr>
                  <a:solidFill>
                    <a:srgbClr val="FFFFFF"/>
                  </a:solidFill>
                </a:endParaRPr>
              </a:p>
              <a:p>
                <a:pPr defTabSz="3686809">
                  <a:spcBef>
                    <a:spcPts val="1800"/>
                  </a:spcBef>
                  <a:defRPr sz="4900">
                    <a:solidFill>
                      <a:srgbClr val="808080"/>
                    </a:solidFill>
                  </a:defRPr>
                </a:pPr>
                <a:r>
                  <a:t>Once your poster file is ready, visit </a:t>
                </a:r>
                <a:r>
                  <a:rPr b="1"/>
                  <a:t>www.genigraphics.com</a:t>
                </a:r>
                <a:r>
                  <a:t> to order a high-quality, affordable poster print. Every order receives a free design review and we can deliver as fast as next business day within the US and Canada. </a:t>
                </a:r>
                <a:endParaRPr sz="7200">
                  <a:solidFill>
                    <a:srgbClr val="FFFFFF"/>
                  </a:solidFill>
                </a:endParaRPr>
              </a:p>
              <a:p>
                <a:pPr defTabSz="3686809">
                  <a:spcBef>
                    <a:spcPts val="1800"/>
                  </a:spcBef>
                  <a:defRPr sz="4900">
                    <a:solidFill>
                      <a:srgbClr val="808080"/>
                    </a:solidFill>
                  </a:defRPr>
                </a:pPr>
                <a:r>
                  <a:t>Genigraphics® has been producing output from PowerPoint® longer than anyone in the industry; dating back to when we helped Microsoft® design the PowerPoint® software. </a:t>
                </a:r>
                <a:endParaRPr sz="7200">
                  <a:solidFill>
                    <a:srgbClr val="FFFFFF"/>
                  </a:solidFill>
                </a:endParaRPr>
              </a:p>
              <a:p>
                <a:pPr defTabSz="3686809">
                  <a:defRPr sz="4900">
                    <a:solidFill>
                      <a:srgbClr val="808080"/>
                    </a:solidFill>
                  </a:defRPr>
                </a:pPr>
                <a:endParaRPr sz="7200">
                  <a:solidFill>
                    <a:srgbClr val="FFFFFF"/>
                  </a:solidFill>
                </a:endParaRPr>
              </a:p>
              <a:p>
                <a:pPr algn="ctr" defTabSz="3686809">
                  <a:defRPr sz="4900">
                    <a:solidFill>
                      <a:srgbClr val="808080"/>
                    </a:solidFill>
                  </a:defRPr>
                </a:pPr>
                <a:r>
                  <a:t>US and Canada:  1-800-790-4001</a:t>
                </a:r>
                <a:br/>
                <a:r>
                  <a:t>Email: info@genigraphics.com</a:t>
                </a:r>
                <a:endParaRPr sz="7200">
                  <a:solidFill>
                    <a:srgbClr val="FFFFFF"/>
                  </a:solidFill>
                </a:endParaRPr>
              </a:p>
              <a:p>
                <a:pPr algn="ctr" defTabSz="3686809">
                  <a:defRPr sz="3600">
                    <a:solidFill>
                      <a:srgbClr val="808080"/>
                    </a:solidFill>
                  </a:defRPr>
                </a:pPr>
                <a:br>
                  <a:rPr sz="7200">
                    <a:solidFill>
                      <a:srgbClr val="FFFFFF"/>
                    </a:solidFill>
                  </a:rPr>
                </a:br>
                <a:r>
                  <a:t>[This sidebar area does not print.]</a:t>
                </a:r>
              </a:p>
            </p:txBody>
          </p:sp>
        </p:grpSp>
        <p:pic>
          <p:nvPicPr>
            <p:cNvPr id="14" name="Picture 8" descr="Picture 8"/>
            <p:cNvPicPr>
              <a:picLocks noChangeAspect="1"/>
            </p:cNvPicPr>
            <p:nvPr/>
          </p:nvPicPr>
          <p:blipFill>
            <a:blip r:embed="rId4"/>
            <a:stretch>
              <a:fillRect/>
            </a:stretch>
          </p:blipFill>
          <p:spPr>
            <a:xfrm>
              <a:off x="336406" y="6945205"/>
              <a:ext cx="8928387" cy="7685196"/>
            </a:xfrm>
            <a:prstGeom prst="rect">
              <a:avLst/>
            </a:prstGeom>
            <a:ln w="12700" cap="flat">
              <a:noFill/>
              <a:miter lim="400000"/>
            </a:ln>
            <a:effectLst/>
          </p:spPr>
        </p:pic>
      </p:grpSp>
      <p:sp>
        <p:nvSpPr>
          <p:cNvPr id="16" name="Title Text"/>
          <p:cNvSpPr txBox="1">
            <a:spLocks noGrp="1"/>
          </p:cNvSpPr>
          <p:nvPr>
            <p:ph type="title"/>
          </p:nvPr>
        </p:nvSpPr>
        <p:spPr>
          <a:xfrm>
            <a:off x="1645920" y="441959"/>
            <a:ext cx="29626561" cy="7239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17" name="Body Level One…"/>
          <p:cNvSpPr txBox="1">
            <a:spLocks noGrp="1"/>
          </p:cNvSpPr>
          <p:nvPr>
            <p:ph type="body" idx="1"/>
          </p:nvPr>
        </p:nvSpPr>
        <p:spPr>
          <a:xfrm>
            <a:off x="1645920" y="7680959"/>
            <a:ext cx="29626561" cy="252374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18" name="Slide Number"/>
          <p:cNvSpPr txBox="1">
            <a:spLocks noGrp="1"/>
          </p:cNvSpPr>
          <p:nvPr>
            <p:ph type="sldNum" sz="quarter" idx="2"/>
          </p:nvPr>
        </p:nvSpPr>
        <p:spPr>
          <a:xfrm>
            <a:off x="15910560" y="29634180"/>
            <a:ext cx="7680960" cy="1752600"/>
          </a:xfrm>
          <a:prstGeom prst="rect">
            <a:avLst/>
          </a:prstGeom>
          <a:ln w="12700">
            <a:miter lim="400000"/>
          </a:ln>
        </p:spPr>
        <p:txBody>
          <a:bodyPr wrap="none" lIns="45719" rIns="45719" anchor="ctr">
            <a:spAutoFit/>
          </a:bodyPr>
          <a:lstStyle>
            <a:lvl1pPr algn="r">
              <a:defRPr sz="1200">
                <a:latin typeface="+mn-lt"/>
                <a:ea typeface="+mn-ea"/>
                <a:cs typeface="+mn-cs"/>
                <a:sym typeface="Aria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1pPr>
      <a:lvl2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2pPr>
      <a:lvl3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3pPr>
      <a:lvl4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4pPr>
      <a:lvl5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5pPr>
      <a:lvl6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6pPr>
      <a:lvl7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7pPr>
      <a:lvl8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8pPr>
      <a:lvl9pPr marL="0" marR="0" indent="0" algn="ctr" defTabSz="3760470" rtl="0" latinLnBrk="0">
        <a:lnSpc>
          <a:spcPct val="100000"/>
        </a:lnSpc>
        <a:spcBef>
          <a:spcPts val="0"/>
        </a:spcBef>
        <a:spcAft>
          <a:spcPts val="0"/>
        </a:spcAft>
        <a:buClrTx/>
        <a:buSzTx/>
        <a:buFontTx/>
        <a:buNone/>
        <a:tabLst/>
        <a:defRPr sz="18100" b="0" i="0" u="none" strike="noStrike" cap="none" spc="0" baseline="0">
          <a:solidFill>
            <a:srgbClr val="000000"/>
          </a:solidFill>
          <a:uFillTx/>
          <a:latin typeface="Calibri"/>
          <a:ea typeface="Calibri"/>
          <a:cs typeface="Calibri"/>
          <a:sym typeface="Calibri"/>
        </a:defRPr>
      </a:lvl9pPr>
    </p:titleStyle>
    <p:bodyStyle>
      <a:lvl1pPr marL="1410335" marR="0" indent="-1410335"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1pPr>
      <a:lvl2pPr marL="3217741" marR="0" indent="-1337506"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2pPr>
      <a:lvl3pPr marL="5014383" marR="0" indent="-1253913"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3pPr>
      <a:lvl4pPr marL="713633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4pPr>
      <a:lvl5pPr marL="901720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5pPr>
      <a:lvl6pPr marL="10897441"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6pPr>
      <a:lvl7pPr marL="12777676" marR="0" indent="-1495631"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7pPr>
      <a:lvl8pPr marL="14657911" marR="0" indent="-1495632"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8pPr>
      <a:lvl9pPr marL="16538147" marR="0" indent="-1495632" algn="l" defTabSz="3760470" rtl="0" latinLnBrk="0">
        <a:lnSpc>
          <a:spcPct val="100000"/>
        </a:lnSpc>
        <a:spcBef>
          <a:spcPts val="3100"/>
        </a:spcBef>
        <a:spcAft>
          <a:spcPts val="0"/>
        </a:spcAft>
        <a:buClrTx/>
        <a:buSzPct val="100000"/>
        <a:buFont typeface="Arial"/>
        <a:buChar char="•"/>
        <a:tabLst/>
        <a:defRPr sz="1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37401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74803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122044"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49606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187007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244725"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2618739"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2992754"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xt Box 186"/>
          <p:cNvSpPr txBox="1"/>
          <p:nvPr/>
        </p:nvSpPr>
        <p:spPr>
          <a:xfrm>
            <a:off x="6583678" y="-388654"/>
            <a:ext cx="26334722" cy="27237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71" tIns="342871" rIns="342871" bIns="342871" anchor="ctr">
            <a:spAutoFit/>
          </a:bodyPr>
          <a:lstStyle>
            <a:lvl1pPr algn="ctr" defTabSz="4022725">
              <a:defRPr sz="6600" b="1">
                <a:solidFill>
                  <a:srgbClr val="FFFFFF"/>
                </a:solidFill>
              </a:defRPr>
            </a:lvl1pPr>
          </a:lstStyle>
          <a:p>
            <a:r>
              <a:rPr lang="en-US" dirty="0"/>
              <a:t>Hybrid Photovoltaic and Ducted Energy Integration for Dynamic EV  Charging</a:t>
            </a:r>
            <a:endParaRPr dirty="0"/>
          </a:p>
        </p:txBody>
      </p:sp>
      <p:sp>
        <p:nvSpPr>
          <p:cNvPr id="35" name="Text Box 187"/>
          <p:cNvSpPr txBox="1"/>
          <p:nvPr/>
        </p:nvSpPr>
        <p:spPr>
          <a:xfrm>
            <a:off x="6583680" y="1467608"/>
            <a:ext cx="26334722" cy="34008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42871" tIns="342871" rIns="342871" bIns="342871" anchor="ctr">
            <a:spAutoFit/>
          </a:bodyPr>
          <a:lstStyle/>
          <a:p>
            <a:pPr algn="ctr" defTabSz="4022725">
              <a:defRPr sz="4400">
                <a:solidFill>
                  <a:srgbClr val="FFFFFF"/>
                </a:solidFill>
              </a:defRPr>
            </a:pPr>
            <a:r>
              <a:rPr dirty="0"/>
              <a:t>Department of Artificial Intelligence and </a:t>
            </a:r>
            <a:r>
              <a:rPr lang="en-US" dirty="0"/>
              <a:t>Data Science</a:t>
            </a:r>
            <a:endParaRPr dirty="0">
              <a:latin typeface="+mn-lt"/>
              <a:ea typeface="+mn-ea"/>
              <a:cs typeface="+mn-cs"/>
              <a:sym typeface="Arial"/>
            </a:endParaRPr>
          </a:p>
          <a:p>
            <a:pPr algn="ctr" defTabSz="4022725">
              <a:defRPr sz="4400">
                <a:solidFill>
                  <a:srgbClr val="FFFFFF"/>
                </a:solidFill>
              </a:defRPr>
            </a:pPr>
            <a:r>
              <a:rPr dirty="0"/>
              <a:t>School of Computing</a:t>
            </a:r>
            <a:endParaRPr dirty="0">
              <a:latin typeface="+mn-lt"/>
              <a:ea typeface="+mn-ea"/>
              <a:cs typeface="+mn-cs"/>
              <a:sym typeface="Arial"/>
            </a:endParaRPr>
          </a:p>
          <a:p>
            <a:pPr algn="ctr" defTabSz="4022725">
              <a:defRPr sz="4400">
                <a:solidFill>
                  <a:srgbClr val="FFFFFF"/>
                </a:solidFill>
              </a:defRPr>
            </a:pPr>
            <a:r>
              <a:rPr dirty="0"/>
              <a:t>10214A</a:t>
            </a:r>
            <a:r>
              <a:rPr lang="en-US" dirty="0"/>
              <a:t>D701</a:t>
            </a:r>
            <a:r>
              <a:rPr dirty="0"/>
              <a:t>-M</a:t>
            </a:r>
            <a:r>
              <a:rPr lang="en-US" dirty="0"/>
              <a:t>AJOR</a:t>
            </a:r>
            <a:r>
              <a:rPr dirty="0"/>
              <a:t> PROJECT 1</a:t>
            </a:r>
            <a:endParaRPr dirty="0">
              <a:latin typeface="+mn-lt"/>
              <a:ea typeface="+mn-ea"/>
              <a:cs typeface="+mn-cs"/>
              <a:sym typeface="Arial"/>
            </a:endParaRPr>
          </a:p>
          <a:p>
            <a:pPr algn="ctr" defTabSz="4022725">
              <a:defRPr sz="4400">
                <a:solidFill>
                  <a:srgbClr val="FFFFFF"/>
                </a:solidFill>
              </a:defRPr>
            </a:pPr>
            <a:r>
              <a:rPr lang="en-US" dirty="0"/>
              <a:t>WINTER</a:t>
            </a:r>
            <a:r>
              <a:rPr dirty="0"/>
              <a:t> SEMESTER</a:t>
            </a:r>
          </a:p>
        </p:txBody>
      </p:sp>
      <p:sp>
        <p:nvSpPr>
          <p:cNvPr id="36" name="Text Box 194"/>
          <p:cNvSpPr txBox="1"/>
          <p:nvPr/>
        </p:nvSpPr>
        <p:spPr>
          <a:xfrm>
            <a:off x="9143921" y="4770837"/>
            <a:ext cx="4023519"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INTRODUCTION</a:t>
            </a:r>
          </a:p>
        </p:txBody>
      </p:sp>
      <p:sp>
        <p:nvSpPr>
          <p:cNvPr id="37" name="Text Box 198"/>
          <p:cNvSpPr txBox="1"/>
          <p:nvPr/>
        </p:nvSpPr>
        <p:spPr>
          <a:xfrm>
            <a:off x="25091120" y="4634717"/>
            <a:ext cx="651056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STANDARDS AND POLICIES</a:t>
            </a:r>
          </a:p>
        </p:txBody>
      </p:sp>
      <p:sp>
        <p:nvSpPr>
          <p:cNvPr id="38" name="Text Box 199"/>
          <p:cNvSpPr txBox="1"/>
          <p:nvPr/>
        </p:nvSpPr>
        <p:spPr>
          <a:xfrm>
            <a:off x="18601219" y="4634717"/>
            <a:ext cx="2299642"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RESULTS</a:t>
            </a:r>
          </a:p>
        </p:txBody>
      </p:sp>
      <p:sp>
        <p:nvSpPr>
          <p:cNvPr id="39" name="Text Box 246"/>
          <p:cNvSpPr txBox="1"/>
          <p:nvPr/>
        </p:nvSpPr>
        <p:spPr>
          <a:xfrm>
            <a:off x="457200" y="4634717"/>
            <a:ext cx="2703735"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defTabSz="4022725">
              <a:defRPr sz="4400">
                <a:solidFill>
                  <a:srgbClr val="FFFFFF"/>
                </a:solidFill>
              </a:defRPr>
            </a:lvl1pPr>
          </a:lstStyle>
          <a:p>
            <a:r>
              <a:t>ABSTRACT</a:t>
            </a:r>
          </a:p>
        </p:txBody>
      </p:sp>
      <p:sp>
        <p:nvSpPr>
          <p:cNvPr id="40" name="Text Box 259"/>
          <p:cNvSpPr txBox="1"/>
          <p:nvPr/>
        </p:nvSpPr>
        <p:spPr>
          <a:xfrm>
            <a:off x="9118775" y="21919566"/>
            <a:ext cx="409637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rPr dirty="0"/>
              <a:t>METHODOLOGY</a:t>
            </a:r>
          </a:p>
        </p:txBody>
      </p:sp>
      <p:sp>
        <p:nvSpPr>
          <p:cNvPr id="41" name="Text Box 261"/>
          <p:cNvSpPr txBox="1"/>
          <p:nvPr/>
        </p:nvSpPr>
        <p:spPr>
          <a:xfrm>
            <a:off x="26495942" y="20199750"/>
            <a:ext cx="3699644"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rPr dirty="0"/>
              <a:t>CONCLUSIONS</a:t>
            </a:r>
          </a:p>
        </p:txBody>
      </p:sp>
      <p:sp>
        <p:nvSpPr>
          <p:cNvPr id="42" name="Text Box 262"/>
          <p:cNvSpPr txBox="1"/>
          <p:nvPr/>
        </p:nvSpPr>
        <p:spPr>
          <a:xfrm>
            <a:off x="26697260" y="28722632"/>
            <a:ext cx="3298280" cy="905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solidFill>
                  <a:srgbClr val="254061"/>
                </a:solidFill>
              </a:defRPr>
            </a:lvl1pPr>
          </a:lstStyle>
          <a:p>
            <a:r>
              <a:t>SUPERVISOR</a:t>
            </a:r>
          </a:p>
        </p:txBody>
      </p:sp>
      <p:sp>
        <p:nvSpPr>
          <p:cNvPr id="43" name="Text Box 267"/>
          <p:cNvSpPr txBox="1"/>
          <p:nvPr/>
        </p:nvSpPr>
        <p:spPr>
          <a:xfrm>
            <a:off x="426720" y="5611090"/>
            <a:ext cx="5669280" cy="18897479"/>
          </a:xfrm>
          <a:prstGeom prst="rect">
            <a:avLst/>
          </a:prstGeom>
          <a:solidFill>
            <a:srgbClr val="37609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3291840">
              <a:defRPr sz="2800">
                <a:solidFill>
                  <a:srgbClr val="FFFFFF"/>
                </a:solidFill>
              </a:defRPr>
            </a:pPr>
            <a:r>
              <a:rPr lang="en-US" sz="2800" dirty="0">
                <a:highlight>
                  <a:srgbClr val="000080"/>
                </a:highlight>
              </a:rPr>
              <a:t>Electric vehicles (EV’s) are encountering situations where they lack to get a sufficient charging infrastructure</a:t>
            </a:r>
            <a:r>
              <a:rPr lang="en-US" sz="2800" dirty="0"/>
              <a:t>, Where there is a long time to charge, and their batteries got worn out. </a:t>
            </a:r>
            <a:r>
              <a:rPr lang="en-US" sz="2800" dirty="0">
                <a:highlight>
                  <a:srgbClr val="000080"/>
                </a:highlight>
              </a:rPr>
              <a:t>This article suggests a hybrid renewable energy powered automatic charging system consisting of solar photovoltaic panels and ducted wind energy generation for electric vehicles. </a:t>
            </a:r>
          </a:p>
          <a:p>
            <a:pPr algn="just" defTabSz="3291840">
              <a:defRPr sz="2800">
                <a:solidFill>
                  <a:srgbClr val="FFFFFF"/>
                </a:solidFill>
              </a:defRPr>
            </a:pPr>
            <a:endParaRPr lang="en-US" sz="2800" dirty="0"/>
          </a:p>
          <a:p>
            <a:pPr algn="just" defTabSz="3291840">
              <a:defRPr sz="2800">
                <a:solidFill>
                  <a:srgbClr val="FFFFFF"/>
                </a:solidFill>
              </a:defRPr>
            </a:pPr>
            <a:r>
              <a:rPr lang="en-US" sz="2800" dirty="0"/>
              <a:t>The system allows charging on the-go by using solar energy and wind energy generated from the airflow around the vehicle. </a:t>
            </a:r>
            <a:r>
              <a:rPr lang="en-US" sz="2800" dirty="0">
                <a:highlight>
                  <a:srgbClr val="000080"/>
                </a:highlight>
              </a:rPr>
              <a:t>A smart micro-controller unit that controls the energy, monitors the battery voltage for charging safety, it has a normally closed contact which is operated automatically by the switch, is the control unit</a:t>
            </a:r>
            <a:r>
              <a:rPr lang="en-US" sz="2800" dirty="0"/>
              <a:t>. </a:t>
            </a:r>
          </a:p>
          <a:p>
            <a:pPr algn="just" defTabSz="3291840">
              <a:defRPr sz="2800">
                <a:solidFill>
                  <a:srgbClr val="FFFFFF"/>
                </a:solidFill>
              </a:defRPr>
            </a:pPr>
            <a:endParaRPr lang="en-US" sz="2800" dirty="0"/>
          </a:p>
          <a:p>
            <a:pPr algn="just" defTabSz="3291840">
              <a:defRPr sz="2800">
                <a:solidFill>
                  <a:srgbClr val="FFFFFF"/>
                </a:solidFill>
              </a:defRPr>
            </a:pPr>
            <a:r>
              <a:rPr lang="en-US" sz="2800" dirty="0"/>
              <a:t>The hybrid system, as verified through real-world performance evaluations on charging continuity, battery voltage regulation, and temperature stability, lowers the dependence on fixed charging stations while ensuring battery safety. </a:t>
            </a:r>
          </a:p>
          <a:p>
            <a:pPr algn="just" defTabSz="3291840">
              <a:defRPr sz="2800">
                <a:solidFill>
                  <a:srgbClr val="FFFFFF"/>
                </a:solidFill>
              </a:defRPr>
            </a:pPr>
            <a:endParaRPr lang="en-US" sz="2800" dirty="0"/>
          </a:p>
          <a:p>
            <a:pPr algn="just" defTabSz="3291840">
              <a:defRPr sz="2800">
                <a:solidFill>
                  <a:srgbClr val="FFFFFF"/>
                </a:solidFill>
              </a:defRPr>
            </a:pPr>
            <a:r>
              <a:rPr lang="en-US" sz="2800" dirty="0"/>
              <a:t>The assessment result which is ,indicate the regulated DC output and improved charging continuity through dual-source operation, thereby reducing dependence on fixed charging infrastructure. </a:t>
            </a:r>
          </a:p>
          <a:p>
            <a:pPr algn="just" defTabSz="3291840">
              <a:defRPr sz="2800">
                <a:solidFill>
                  <a:srgbClr val="FFFFFF"/>
                </a:solidFill>
              </a:defRPr>
            </a:pPr>
            <a:endParaRPr lang="en-US" sz="2800" dirty="0"/>
          </a:p>
          <a:p>
            <a:pPr algn="just" defTabSz="3291840">
              <a:defRPr sz="2800">
                <a:solidFill>
                  <a:srgbClr val="FFFFFF"/>
                </a:solidFill>
              </a:defRPr>
            </a:pPr>
            <a:r>
              <a:rPr lang="en-US" sz="2800" dirty="0"/>
              <a:t>Key Terms : Renewable Assistance, Embedded Safety, Hybrid Charging, Power Conditioning, Self-Sustained Charging.</a:t>
            </a:r>
            <a:endParaRPr dirty="0"/>
          </a:p>
        </p:txBody>
      </p:sp>
      <p:sp>
        <p:nvSpPr>
          <p:cNvPr id="44" name="Text Box 268"/>
          <p:cNvSpPr txBox="1"/>
          <p:nvPr/>
        </p:nvSpPr>
        <p:spPr>
          <a:xfrm>
            <a:off x="15727681" y="5423731"/>
            <a:ext cx="8046720" cy="7263525"/>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lvl1pPr algn="just" defTabSz="3291840">
              <a:defRPr sz="2800"/>
            </a:lvl1pPr>
          </a:lstStyle>
          <a:p>
            <a:r>
              <a:rPr lang="en-US" dirty="0"/>
              <a:t>The performance evaluation shows that the proposed hybrid charging system can effectively support EV battery charging using both solar and ducted wind energy. </a:t>
            </a:r>
            <a:r>
              <a:rPr lang="en-US" dirty="0">
                <a:highlight>
                  <a:srgbClr val="C0C0C0"/>
                </a:highlight>
              </a:rPr>
              <a:t>The solar panel provides a regulated 12 V DC output with energy between 15–60 W under suitable conditions, while the ducted wind turbine generates a variable DC output of 3–12 V depending on vehicle speed.</a:t>
            </a:r>
            <a:r>
              <a:rPr lang="en-US" dirty="0"/>
              <a:t> The hybrid operation improves charging continuity and stability compared to single-source charging. The control system maintains safe battery voltage levels and supports continuous charging under changing conditions. These results confirm that the hybrid renewable charging system reduces dependence on fixed charging stations and improves overall charging reliability.</a:t>
            </a:r>
            <a:endParaRPr dirty="0"/>
          </a:p>
        </p:txBody>
      </p:sp>
      <p:sp>
        <p:nvSpPr>
          <p:cNvPr id="45" name="Text Box 269"/>
          <p:cNvSpPr txBox="1"/>
          <p:nvPr/>
        </p:nvSpPr>
        <p:spPr>
          <a:xfrm>
            <a:off x="24688800" y="5443851"/>
            <a:ext cx="7772400" cy="8771630"/>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r>
              <a:rPr lang="en-US" dirty="0">
                <a:highlight>
                  <a:srgbClr val="C0C0C0"/>
                </a:highlight>
              </a:rPr>
              <a:t>C++: It is a powerful, high-performance programming language that is widely used in system development, embedded applications, real-time processing, and simulation-based projects.</a:t>
            </a:r>
            <a:r>
              <a:rPr lang="en-US" dirty="0"/>
              <a:t> It supports object-oriented programming, memory management, and low-level hardware interaction, which makes it suitable for building efficient algorithms and control systems. C++ can also be integrated with Machine Learning libraries and hardware-level applications where speed and optimization are critical.</a:t>
            </a:r>
          </a:p>
          <a:p>
            <a:r>
              <a:rPr lang="en-US" dirty="0">
                <a:highlight>
                  <a:srgbClr val="C0C0C0"/>
                </a:highlight>
              </a:rPr>
              <a:t>Arduino Nano: It is a compact microcontroller board based on the ATmega328P that is widely used in embedded systems, automation, and IoT-based applications. </a:t>
            </a:r>
            <a:r>
              <a:rPr lang="en-US" dirty="0"/>
              <a:t>It is commonly employed for sensor interfacing, motor control, power management, and real-time monitoring in engineering projects. Arduino Nano can be programmed using the Arduino IDE and easily integrated with components such as voltage sensors, temperature sensors, relays, LCD displays, and power converters, making it suitable for implementing intelligent control systems.</a:t>
            </a:r>
          </a:p>
        </p:txBody>
      </p:sp>
      <p:sp>
        <p:nvSpPr>
          <p:cNvPr id="46" name="Text Box 270"/>
          <p:cNvSpPr txBox="1"/>
          <p:nvPr/>
        </p:nvSpPr>
        <p:spPr>
          <a:xfrm>
            <a:off x="7459251" y="22772412"/>
            <a:ext cx="7180582" cy="9602627"/>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3291840">
              <a:defRPr sz="2400"/>
            </a:pPr>
            <a:r>
              <a:rPr lang="en-US" dirty="0"/>
              <a:t>The proposed system uses a hybrid photovoltaic and ducted wind energy (HPDE) approach to charge electric vehicles while they are in motion. Solar panels mounted on the vehicle convert sunlight into electrical energy, while a ducted wind turbine generates power from airflow during vehicle movement. The outputs from both sources are processed through rectifier and voltage regulation circuits to obtain a suitable DC voltage level. These two renewable sources are then combined to provide continuous energy supply for battery charging.      </a:t>
            </a:r>
          </a:p>
          <a:p>
            <a:pPr algn="just" defTabSz="3291840">
              <a:defRPr sz="2400"/>
            </a:pPr>
            <a:endParaRPr lang="en-US" dirty="0"/>
          </a:p>
          <a:p>
            <a:pPr algn="just" defTabSz="3291840">
              <a:defRPr sz="2400"/>
            </a:pPr>
            <a:r>
              <a:rPr lang="en-US" dirty="0">
                <a:highlight>
                  <a:srgbClr val="C0C0C0"/>
                </a:highlight>
              </a:rPr>
              <a:t>A Dynamic Energy Management System (DEMS) controlled by an Arduino Nano monitors battery voltage and temperature in real time. When the battery state of charge drops below 25%, charging is automatically started to avoid deep discharge. </a:t>
            </a:r>
            <a:r>
              <a:rPr lang="en-US" dirty="0"/>
              <a:t>When the battery reaches 95% state of charge, charging is stopped to prevent overcharging and thermal stress. The system also selects between solar and wind energy based on availability, ensuring stable charging under different driving and weather conditions. Battery voltage and charging status are displayed on an LCD for user monitoring, ensuring safe and reliable operation.</a:t>
            </a:r>
            <a:endParaRPr dirty="0"/>
          </a:p>
        </p:txBody>
      </p:sp>
      <p:sp>
        <p:nvSpPr>
          <p:cNvPr id="47" name="Text Box 271"/>
          <p:cNvSpPr txBox="1"/>
          <p:nvPr/>
        </p:nvSpPr>
        <p:spPr>
          <a:xfrm>
            <a:off x="24459564" y="21109711"/>
            <a:ext cx="7772401" cy="7694412"/>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lvl1pPr algn="just" defTabSz="3291840">
              <a:defRPr sz="2800"/>
            </a:lvl1pPr>
          </a:lstStyle>
          <a:p>
            <a:r>
              <a:rPr lang="en-US" dirty="0">
                <a:highlight>
                  <a:srgbClr val="C0C0C0"/>
                </a:highlight>
              </a:rPr>
              <a:t>This project presents a hybrid renewable energy-based automatic charging system for electric vehicles. The charging system utilizes solar photovoltaic energy and ducted wind energy as the primary source to allow for recharging while on the move. </a:t>
            </a:r>
            <a:r>
              <a:rPr lang="en-US" dirty="0"/>
              <a:t>Results from an experimental evaluation of performance show that the proposed hybrid charging system is capable if maintaining battery voltage and continuous charging even with fluctuating operational conditions, which helps to reduce the degradation of batteries and increase the reliability of the overall hybrid charging system Therefore, </a:t>
            </a:r>
            <a:r>
              <a:rPr lang="en-US" dirty="0">
                <a:highlight>
                  <a:srgbClr val="C0C0C0"/>
                </a:highlight>
              </a:rPr>
              <a:t>the hybrid charging system offers a clean, practical and sustainable method of charging electric vehicles and is well suited to support eco-friendly transportation in both urban and rural environments.</a:t>
            </a:r>
            <a:endParaRPr dirty="0">
              <a:highlight>
                <a:srgbClr val="C0C0C0"/>
              </a:highlight>
            </a:endParaRPr>
          </a:p>
        </p:txBody>
      </p:sp>
      <p:sp>
        <p:nvSpPr>
          <p:cNvPr id="48" name="Text Box 272"/>
          <p:cNvSpPr txBox="1"/>
          <p:nvPr/>
        </p:nvSpPr>
        <p:spPr>
          <a:xfrm>
            <a:off x="7004049" y="5857240"/>
            <a:ext cx="8339457" cy="15881269"/>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algn="just" defTabSz="838200">
              <a:defRPr sz="2800"/>
            </a:pPr>
            <a:r>
              <a:rPr lang="en-US" dirty="0"/>
              <a:t>In an effort to reduce air pollution and cut down on the use of non-renewable fuels, electric cars (EVs) are gaining popularity day by day. However, there are some practical issues for car users to which electric vehicles are not environmentally friendly.</a:t>
            </a:r>
            <a:r>
              <a:rPr lang="en-US" dirty="0">
                <a:highlight>
                  <a:srgbClr val="C0C0C0"/>
                </a:highlight>
              </a:rPr>
              <a:t> Inadequate charging infrastructure is another problem, and also the long charge-up time. In a similar way, these obstacles can make long road trips less comfortable and may also discourage people from using EVs for short errands around town. </a:t>
            </a:r>
            <a:r>
              <a:rPr lang="en-US" dirty="0"/>
              <a:t>A charging system dependent on renewable energy is a more efficient and environmentally friendly way. </a:t>
            </a:r>
          </a:p>
          <a:p>
            <a:pPr algn="just" defTabSz="838200">
              <a:defRPr sz="2800"/>
            </a:pPr>
            <a:endParaRPr lang="en-US" dirty="0"/>
          </a:p>
          <a:p>
            <a:pPr algn="just" defTabSz="838200">
              <a:defRPr sz="2800"/>
            </a:pPr>
            <a:r>
              <a:rPr lang="en-US" dirty="0">
                <a:highlight>
                  <a:srgbClr val="C0C0C0"/>
                </a:highlight>
              </a:rPr>
              <a:t>We present a Combined Hybrid solar wind charging system for the mobile vehicle to absorb both sun and wind power while moving. The solar cells absorb power from the sun and the ducted fan produce energy upon motion through the air.</a:t>
            </a:r>
            <a:r>
              <a:rPr lang="en-US" dirty="0"/>
              <a:t> The energy is stored in the vehicle’s battery and controlled by a microcontroller system that tracks temperature and charging status. The result is fewer charging station stops, longer battery life, and cleaner, more environmentally friendly transportation</a:t>
            </a:r>
          </a:p>
          <a:p>
            <a:pPr algn="just" defTabSz="838200">
              <a:defRPr sz="2800"/>
            </a:pPr>
            <a:endParaRPr lang="en-US" dirty="0"/>
          </a:p>
          <a:p>
            <a:pPr algn="just" defTabSz="838200">
              <a:defRPr sz="2800"/>
            </a:pPr>
            <a:r>
              <a:rPr lang="en-US" dirty="0"/>
              <a:t>While numerous studies have investigated electric vehicle (EV) charging using solar energy, wind energy, wireless charging, and automation, a majority of the present systems still rely on fixed charging stations. In general, solar-based charging is effective only when the vehicle is stationary , whereas standalone wind-based systems are inherently unstable due to fluctuations in wind speed and weather conditions . Furthermore, </a:t>
            </a:r>
            <a:r>
              <a:rPr lang="en-US" dirty="0">
                <a:highlight>
                  <a:srgbClr val="C0C0C0"/>
                </a:highlight>
              </a:rPr>
              <a:t>only a limited number of studies have focused on automatic on-the-go charging using a hybrid renewable energy source integrated with real-time battery safety monitoring. </a:t>
            </a:r>
          </a:p>
        </p:txBody>
      </p:sp>
      <p:sp>
        <p:nvSpPr>
          <p:cNvPr id="49" name="Text Box 273"/>
          <p:cNvSpPr txBox="1"/>
          <p:nvPr/>
        </p:nvSpPr>
        <p:spPr>
          <a:xfrm>
            <a:off x="24460200" y="29701374"/>
            <a:ext cx="7772400" cy="2826413"/>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182879" tIns="182879" rIns="182879" bIns="182879">
            <a:spAutoFit/>
          </a:bodyPr>
          <a:lstStyle/>
          <a:p>
            <a:pPr marL="457200" indent="-457200">
              <a:spcBef>
                <a:spcPts val="1900"/>
              </a:spcBef>
              <a:buSzPct val="100000"/>
              <a:buAutoNum type="arabicPeriod"/>
              <a:defRPr sz="3200"/>
            </a:pPr>
            <a:r>
              <a:rPr dirty="0"/>
              <a:t>Dr. M. </a:t>
            </a:r>
            <a:r>
              <a:rPr lang="en-US" dirty="0"/>
              <a:t>SAM NAVIN</a:t>
            </a:r>
            <a:r>
              <a:rPr dirty="0"/>
              <a:t>, B.Tech., M.Tech.,</a:t>
            </a:r>
            <a:r>
              <a:rPr lang="en-US" dirty="0" err="1"/>
              <a:t>P</a:t>
            </a:r>
            <a:r>
              <a:rPr dirty="0" err="1"/>
              <a:t>hd</a:t>
            </a:r>
            <a:r>
              <a:rPr dirty="0"/>
              <a:t>., ASS</a:t>
            </a:r>
            <a:r>
              <a:rPr lang="en-US" dirty="0"/>
              <a:t>ISTANT</a:t>
            </a:r>
            <a:r>
              <a:rPr dirty="0"/>
              <a:t> PROFESSOR</a:t>
            </a:r>
          </a:p>
          <a:p>
            <a:pPr marL="457200" indent="-457200">
              <a:spcBef>
                <a:spcPts val="1900"/>
              </a:spcBef>
              <a:buSzPct val="100000"/>
              <a:buAutoNum type="arabicPeriod"/>
              <a:defRPr sz="3200"/>
            </a:pPr>
            <a:r>
              <a:rPr dirty="0"/>
              <a:t>+91 </a:t>
            </a:r>
            <a:r>
              <a:rPr lang="en-US" dirty="0"/>
              <a:t>7639077696</a:t>
            </a:r>
            <a:endParaRPr dirty="0"/>
          </a:p>
          <a:p>
            <a:pPr marL="457200" indent="-457200">
              <a:spcBef>
                <a:spcPts val="1900"/>
              </a:spcBef>
              <a:buSzPct val="100000"/>
              <a:buAutoNum type="arabicPeriod"/>
              <a:defRPr sz="3200"/>
            </a:pPr>
            <a:r>
              <a:rPr lang="en-IN" dirty="0"/>
              <a:t>samnavinm@veltech.edu.in</a:t>
            </a:r>
            <a:endParaRPr dirty="0"/>
          </a:p>
        </p:txBody>
      </p:sp>
      <p:sp>
        <p:nvSpPr>
          <p:cNvPr id="50" name="Text Box 199"/>
          <p:cNvSpPr txBox="1"/>
          <p:nvPr/>
        </p:nvSpPr>
        <p:spPr>
          <a:xfrm>
            <a:off x="17913696" y="19781190"/>
            <a:ext cx="3903286" cy="1023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71437" tIns="171437" rIns="171437" bIns="171437" anchor="ctr">
            <a:spAutoFit/>
          </a:bodyPr>
          <a:lstStyle>
            <a:lvl1pPr algn="ctr" defTabSz="4022725">
              <a:defRPr sz="4400" b="1">
                <a:effectLst>
                  <a:outerShdw blurRad="38100" dist="19050" dir="2700000" rotWithShape="0">
                    <a:srgbClr val="000000">
                      <a:alpha val="40000"/>
                    </a:srgbClr>
                  </a:outerShdw>
                </a:effectLst>
              </a:defRPr>
            </a:lvl1pPr>
          </a:lstStyle>
          <a:p>
            <a:r>
              <a:rPr lang="en-IN" dirty="0">
                <a:solidFill>
                  <a:schemeClr val="accent1">
                    <a:lumMod val="50000"/>
                  </a:schemeClr>
                </a:solidFill>
                <a:effectLst/>
              </a:rPr>
              <a:t>ARCHITECTURE</a:t>
            </a:r>
            <a:endParaRPr dirty="0">
              <a:solidFill>
                <a:schemeClr val="accent1">
                  <a:lumMod val="50000"/>
                </a:schemeClr>
              </a:solidFill>
            </a:endParaRPr>
          </a:p>
        </p:txBody>
      </p:sp>
      <p:pic>
        <p:nvPicPr>
          <p:cNvPr id="51" name="image1.jpeg" descr="image1.jpeg"/>
          <p:cNvPicPr>
            <a:picLocks noChangeAspect="1"/>
          </p:cNvPicPr>
          <p:nvPr/>
        </p:nvPicPr>
        <p:blipFill>
          <a:blip r:embed="rId2"/>
          <a:stretch>
            <a:fillRect/>
          </a:stretch>
        </p:blipFill>
        <p:spPr>
          <a:xfrm>
            <a:off x="75883" y="1295400"/>
            <a:ext cx="3886201" cy="1768475"/>
          </a:xfrm>
          <a:prstGeom prst="rect">
            <a:avLst/>
          </a:prstGeom>
          <a:ln w="12700">
            <a:miter lim="400000"/>
          </a:ln>
        </p:spPr>
      </p:pic>
      <p:pic>
        <p:nvPicPr>
          <p:cNvPr id="52" name="Picture 2" descr="Picture 2"/>
          <p:cNvPicPr>
            <a:picLocks noChangeAspect="1"/>
          </p:cNvPicPr>
          <p:nvPr/>
        </p:nvPicPr>
        <p:blipFill>
          <a:blip r:embed="rId3"/>
          <a:stretch>
            <a:fillRect/>
          </a:stretch>
        </p:blipFill>
        <p:spPr>
          <a:xfrm>
            <a:off x="4114482" y="304800"/>
            <a:ext cx="2058988" cy="1695450"/>
          </a:xfrm>
          <a:prstGeom prst="rect">
            <a:avLst/>
          </a:prstGeom>
          <a:ln w="12700">
            <a:miter lim="400000"/>
          </a:ln>
        </p:spPr>
      </p:pic>
      <p:pic>
        <p:nvPicPr>
          <p:cNvPr id="53" name="Picture 6" descr="Picture 6"/>
          <p:cNvPicPr>
            <a:picLocks noChangeAspect="1"/>
          </p:cNvPicPr>
          <p:nvPr/>
        </p:nvPicPr>
        <p:blipFill>
          <a:blip r:embed="rId4"/>
          <a:stretch>
            <a:fillRect/>
          </a:stretch>
        </p:blipFill>
        <p:spPr>
          <a:xfrm>
            <a:off x="4026534" y="2490470"/>
            <a:ext cx="2299336" cy="1687830"/>
          </a:xfrm>
          <a:prstGeom prst="rect">
            <a:avLst/>
          </a:prstGeom>
          <a:ln w="12700">
            <a:miter lim="400000"/>
          </a:ln>
        </p:spPr>
      </p:pic>
      <p:sp>
        <p:nvSpPr>
          <p:cNvPr id="54" name="Text Box 1"/>
          <p:cNvSpPr txBox="1"/>
          <p:nvPr/>
        </p:nvSpPr>
        <p:spPr>
          <a:xfrm>
            <a:off x="574896" y="25467176"/>
            <a:ext cx="5172077" cy="60162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000">
                <a:solidFill>
                  <a:srgbClr val="FFFFFF"/>
                </a:solidFill>
              </a:defRPr>
            </a:lvl1pPr>
          </a:lstStyle>
          <a:p>
            <a:r>
              <a:rPr dirty="0"/>
              <a:t>TEAM MEMBER DETAILS</a:t>
            </a:r>
          </a:p>
        </p:txBody>
      </p:sp>
      <p:sp>
        <p:nvSpPr>
          <p:cNvPr id="55" name="Text Box 193"/>
          <p:cNvSpPr txBox="1"/>
          <p:nvPr/>
        </p:nvSpPr>
        <p:spPr>
          <a:xfrm>
            <a:off x="382270" y="26501829"/>
            <a:ext cx="5943600" cy="6001643"/>
          </a:xfrm>
          <a:prstGeom prst="rect">
            <a:avLst/>
          </a:prstGeom>
          <a:solidFill>
            <a:srgbClr val="376092"/>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8600" tIns="228600" rIns="228600" bIns="228600">
            <a:spAutoFit/>
          </a:bodyPr>
          <a:lstStyle/>
          <a:p>
            <a:pPr>
              <a:defRPr sz="3600">
                <a:solidFill>
                  <a:srgbClr val="FFFFFF"/>
                </a:solidFill>
              </a:defRPr>
            </a:pPr>
            <a:r>
              <a:rPr dirty="0"/>
              <a:t>&lt;VTU2</a:t>
            </a:r>
            <a:r>
              <a:rPr lang="en-US" dirty="0"/>
              <a:t>2973</a:t>
            </a:r>
            <a:r>
              <a:rPr dirty="0"/>
              <a:t>/K.</a:t>
            </a:r>
            <a:r>
              <a:rPr lang="en-US" dirty="0"/>
              <a:t>SESHATHRI</a:t>
            </a:r>
            <a:r>
              <a:rPr dirty="0"/>
              <a:t>&gt;</a:t>
            </a:r>
          </a:p>
          <a:p>
            <a:pPr>
              <a:defRPr sz="3600">
                <a:solidFill>
                  <a:srgbClr val="FFFFFF"/>
                </a:solidFill>
              </a:defRPr>
            </a:pPr>
            <a:r>
              <a:rPr dirty="0"/>
              <a:t>&lt;VTU</a:t>
            </a:r>
            <a:r>
              <a:rPr lang="en-US" dirty="0"/>
              <a:t>21508</a:t>
            </a:r>
            <a:r>
              <a:rPr dirty="0"/>
              <a:t>/K.</a:t>
            </a:r>
            <a:r>
              <a:rPr lang="en-US" dirty="0"/>
              <a:t>LEKHA</a:t>
            </a:r>
            <a:r>
              <a:rPr dirty="0"/>
              <a:t>&gt;</a:t>
            </a:r>
          </a:p>
          <a:p>
            <a:pPr>
              <a:defRPr sz="3600">
                <a:solidFill>
                  <a:srgbClr val="FFFFFF"/>
                </a:solidFill>
              </a:defRPr>
            </a:pPr>
            <a:r>
              <a:rPr dirty="0"/>
              <a:t>&lt;VTU2</a:t>
            </a:r>
            <a:r>
              <a:rPr lang="en-US" dirty="0"/>
              <a:t>1450</a:t>
            </a:r>
            <a:r>
              <a:rPr dirty="0"/>
              <a:t>/</a:t>
            </a:r>
            <a:r>
              <a:rPr lang="en-US" dirty="0"/>
              <a:t>B</a:t>
            </a:r>
            <a:r>
              <a:rPr dirty="0"/>
              <a:t>.</a:t>
            </a:r>
            <a:r>
              <a:rPr lang="en-US" dirty="0"/>
              <a:t>JAYANTHA SRI</a:t>
            </a:r>
            <a:r>
              <a:rPr dirty="0"/>
              <a:t>&gt;</a:t>
            </a:r>
          </a:p>
          <a:p>
            <a:pPr>
              <a:defRPr sz="3600">
                <a:solidFill>
                  <a:srgbClr val="FFFFFF"/>
                </a:solidFill>
              </a:defRPr>
            </a:pPr>
            <a:r>
              <a:rPr dirty="0"/>
              <a:t>&lt;</a:t>
            </a:r>
            <a:r>
              <a:rPr lang="en-US" dirty="0"/>
              <a:t>73056 51408</a:t>
            </a:r>
            <a:r>
              <a:rPr dirty="0"/>
              <a:t>&gt;</a:t>
            </a:r>
            <a:endParaRPr dirty="0">
              <a:latin typeface="+mn-lt"/>
              <a:ea typeface="+mn-ea"/>
              <a:cs typeface="+mn-cs"/>
              <a:sym typeface="Arial"/>
            </a:endParaRPr>
          </a:p>
          <a:p>
            <a:pPr>
              <a:defRPr sz="3600">
                <a:solidFill>
                  <a:srgbClr val="FFFFFF"/>
                </a:solidFill>
              </a:defRPr>
            </a:pPr>
            <a:r>
              <a:rPr dirty="0"/>
              <a:t>&lt;</a:t>
            </a:r>
            <a:r>
              <a:rPr lang="en-US" dirty="0"/>
              <a:t>98403 38329&gt;</a:t>
            </a:r>
            <a:endParaRPr dirty="0">
              <a:latin typeface="+mn-lt"/>
              <a:ea typeface="+mn-ea"/>
              <a:cs typeface="+mn-cs"/>
              <a:sym typeface="Arial"/>
            </a:endParaRPr>
          </a:p>
          <a:p>
            <a:pPr>
              <a:defRPr sz="3600">
                <a:solidFill>
                  <a:srgbClr val="FFFFFF"/>
                </a:solidFill>
              </a:defRPr>
            </a:pPr>
            <a:r>
              <a:rPr dirty="0"/>
              <a:t>&lt;9</a:t>
            </a:r>
            <a:r>
              <a:rPr lang="en-US" dirty="0"/>
              <a:t>0258 16927</a:t>
            </a:r>
            <a:r>
              <a:rPr dirty="0"/>
              <a:t>&gt;</a:t>
            </a:r>
            <a:endParaRPr dirty="0">
              <a:latin typeface="+mn-lt"/>
              <a:ea typeface="+mn-ea"/>
              <a:cs typeface="+mn-cs"/>
              <a:sym typeface="Arial"/>
            </a:endParaRPr>
          </a:p>
          <a:p>
            <a:pPr>
              <a:defRPr sz="3600">
                <a:solidFill>
                  <a:srgbClr val="FFFFFF"/>
                </a:solidFill>
              </a:defRPr>
            </a:pPr>
            <a:r>
              <a:rPr dirty="0"/>
              <a:t>&lt;vtu2</a:t>
            </a:r>
            <a:r>
              <a:rPr lang="en-US" dirty="0"/>
              <a:t>2973</a:t>
            </a:r>
            <a:r>
              <a:rPr dirty="0"/>
              <a:t>@veltech.edu.in&gt;</a:t>
            </a:r>
            <a:endParaRPr dirty="0">
              <a:latin typeface="+mn-lt"/>
              <a:ea typeface="+mn-ea"/>
              <a:cs typeface="+mn-cs"/>
              <a:sym typeface="Arial"/>
            </a:endParaRPr>
          </a:p>
          <a:p>
            <a:pPr>
              <a:defRPr sz="3600">
                <a:solidFill>
                  <a:srgbClr val="FFFFFF"/>
                </a:solidFill>
              </a:defRPr>
            </a:pPr>
            <a:r>
              <a:rPr dirty="0"/>
              <a:t>&lt;vtu</a:t>
            </a:r>
            <a:r>
              <a:rPr lang="en-US" dirty="0"/>
              <a:t>21508</a:t>
            </a:r>
            <a:r>
              <a:rPr dirty="0"/>
              <a:t>@veltech.edu.in&gt;</a:t>
            </a:r>
            <a:endParaRPr dirty="0">
              <a:latin typeface="+mn-lt"/>
              <a:ea typeface="+mn-ea"/>
              <a:cs typeface="+mn-cs"/>
              <a:sym typeface="Arial"/>
            </a:endParaRPr>
          </a:p>
          <a:p>
            <a:pPr>
              <a:defRPr sz="3600">
                <a:solidFill>
                  <a:srgbClr val="FFFFFF"/>
                </a:solidFill>
              </a:defRPr>
            </a:pPr>
            <a:r>
              <a:rPr dirty="0"/>
              <a:t>&lt;vtu2</a:t>
            </a:r>
            <a:r>
              <a:rPr lang="en-US" dirty="0"/>
              <a:t>1450</a:t>
            </a:r>
            <a:r>
              <a:rPr dirty="0"/>
              <a:t>@veltech.edu.in&gt;</a:t>
            </a:r>
          </a:p>
        </p:txBody>
      </p:sp>
      <p:sp>
        <p:nvSpPr>
          <p:cNvPr id="56" name="Text Box 9"/>
          <p:cNvSpPr txBox="1"/>
          <p:nvPr/>
        </p:nvSpPr>
        <p:spPr>
          <a:xfrm>
            <a:off x="15953393" y="12746883"/>
            <a:ext cx="7751446"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defRPr sz="3600" b="1">
                <a:latin typeface="+mn-lt"/>
                <a:ea typeface="+mn-ea"/>
                <a:cs typeface="+mn-cs"/>
                <a:sym typeface="Arial"/>
              </a:defRPr>
            </a:lvl1pPr>
          </a:lstStyle>
          <a:p>
            <a:r>
              <a:rPr lang="en-US" dirty="0">
                <a:solidFill>
                  <a:schemeClr val="accent1">
                    <a:lumMod val="50000"/>
                  </a:schemeClr>
                </a:solidFill>
              </a:rPr>
              <a:t>PROTOTYPE</a:t>
            </a:r>
            <a:r>
              <a:rPr lang="en-US" dirty="0"/>
              <a:t> </a:t>
            </a:r>
            <a:endParaRPr dirty="0"/>
          </a:p>
        </p:txBody>
      </p:sp>
      <p:sp>
        <p:nvSpPr>
          <p:cNvPr id="57" name="Text Box 10"/>
          <p:cNvSpPr txBox="1"/>
          <p:nvPr/>
        </p:nvSpPr>
        <p:spPr>
          <a:xfrm>
            <a:off x="15651929" y="26473400"/>
            <a:ext cx="8030433" cy="5847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3200" b="1">
                <a:latin typeface="+mn-lt"/>
                <a:ea typeface="+mn-ea"/>
                <a:cs typeface="+mn-cs"/>
                <a:sym typeface="Arial"/>
              </a:defRPr>
            </a:lvl1pPr>
          </a:lstStyle>
          <a:p>
            <a:r>
              <a:rPr lang="en-IN" dirty="0"/>
              <a:t>Hybrid EV Charging System Analysis</a:t>
            </a:r>
          </a:p>
        </p:txBody>
      </p:sp>
      <p:sp>
        <p:nvSpPr>
          <p:cNvPr id="58" name="Text Box 13"/>
          <p:cNvSpPr txBox="1"/>
          <p:nvPr/>
        </p:nvSpPr>
        <p:spPr>
          <a:xfrm>
            <a:off x="26231084" y="14170201"/>
            <a:ext cx="5226686"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3600" b="1">
                <a:latin typeface="+mn-lt"/>
                <a:ea typeface="+mn-ea"/>
                <a:cs typeface="+mn-cs"/>
                <a:sym typeface="Arial"/>
              </a:defRPr>
            </a:lvl1pPr>
          </a:lstStyle>
          <a:p>
            <a:r>
              <a:rPr lang="en-US" dirty="0">
                <a:solidFill>
                  <a:schemeClr val="accent1">
                    <a:lumMod val="50000"/>
                  </a:schemeClr>
                </a:solidFill>
              </a:rPr>
              <a:t>     FLOW CHART</a:t>
            </a:r>
            <a:endParaRPr dirty="0">
              <a:solidFill>
                <a:schemeClr val="accent1">
                  <a:lumMod val="50000"/>
                </a:schemeClr>
              </a:solidFill>
            </a:endParaRPr>
          </a:p>
        </p:txBody>
      </p:sp>
      <p:pic>
        <p:nvPicPr>
          <p:cNvPr id="3" name="Picture 2">
            <a:extLst>
              <a:ext uri="{FF2B5EF4-FFF2-40B4-BE49-F238E27FC236}">
                <a16:creationId xmlns:a16="http://schemas.microsoft.com/office/drawing/2014/main" id="{330A9CB9-CA20-399D-BFFD-F6BCF25D057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858648" y="13555763"/>
            <a:ext cx="8013383" cy="6165799"/>
          </a:xfrm>
          <a:prstGeom prst="rect">
            <a:avLst/>
          </a:prstGeom>
        </p:spPr>
      </p:pic>
      <p:pic>
        <p:nvPicPr>
          <p:cNvPr id="5" name="Picture 4">
            <a:extLst>
              <a:ext uri="{FF2B5EF4-FFF2-40B4-BE49-F238E27FC236}">
                <a16:creationId xmlns:a16="http://schemas.microsoft.com/office/drawing/2014/main" id="{DB333285-6F08-5395-6C29-386F64E6104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176035" y="14771252"/>
            <a:ext cx="8339457" cy="5559638"/>
          </a:xfrm>
          <a:prstGeom prst="rect">
            <a:avLst/>
          </a:prstGeom>
        </p:spPr>
      </p:pic>
      <p:pic>
        <p:nvPicPr>
          <p:cNvPr id="7" name="Picture 6">
            <a:extLst>
              <a:ext uri="{FF2B5EF4-FFF2-40B4-BE49-F238E27FC236}">
                <a16:creationId xmlns:a16="http://schemas.microsoft.com/office/drawing/2014/main" id="{1A809E92-2A0C-EDB3-2A2C-7AE70868780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651930" y="20864148"/>
            <a:ext cx="8030433" cy="5442143"/>
          </a:xfrm>
          <a:prstGeom prst="rect">
            <a:avLst/>
          </a:prstGeom>
        </p:spPr>
      </p:pic>
      <p:pic>
        <p:nvPicPr>
          <p:cNvPr id="4" name="Picture 3">
            <a:extLst>
              <a:ext uri="{FF2B5EF4-FFF2-40B4-BE49-F238E27FC236}">
                <a16:creationId xmlns:a16="http://schemas.microsoft.com/office/drawing/2014/main" id="{C6850731-4EAC-4F1F-55CB-AEBC516BEF9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343506" y="27118254"/>
            <a:ext cx="8647881" cy="5559638"/>
          </a:xfrm>
          <a:prstGeom prst="rect">
            <a:avLst/>
          </a:prstGeom>
        </p:spPr>
      </p:pic>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26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40</TotalTime>
  <Words>1209</Words>
  <Application>Microsoft Office PowerPoint</Application>
  <PresentationFormat>Custom</PresentationFormat>
  <Paragraphs>50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Lekha Karthikeyan</dc:creator>
  <cp:lastModifiedBy>Lekha Karthikeyan</cp:lastModifiedBy>
  <cp:revision>3</cp:revision>
  <dcterms:modified xsi:type="dcterms:W3CDTF">2026-01-23T06:13:23Z</dcterms:modified>
</cp:coreProperties>
</file>